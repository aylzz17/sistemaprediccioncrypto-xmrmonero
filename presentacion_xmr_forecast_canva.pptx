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4aca91bf24336" /><Relationship Type="http://schemas.openxmlformats.org/officeDocument/2006/relationships/extended-properties" Target="/docProps/app.xml" Id="R149a6347797247bb" /><Relationship Type="http://schemas.openxmlformats.org/officeDocument/2006/relationships/officeDocument" Target="/ppt/presentation.xml" Id="Rac90b2114f4b4c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6d1d8ebaf4bf3"/>
  </p:sldMasterIdLst>
  <p:notesMasterIdLst>
    <p:notesMasterId xmlns:r="http://schemas.openxmlformats.org/officeDocument/2006/relationships" r:id="R6a867fd16ecf46d0"/>
  </p:notesMasterIdLst>
  <p:sldIdLst>
    <p:sldId xmlns:r="http://schemas.openxmlformats.org/officeDocument/2006/relationships" id="256" r:id="R133bae1e61964f73"/>
    <p:sldId xmlns:r="http://schemas.openxmlformats.org/officeDocument/2006/relationships" id="257" r:id="Re12ffb5b5ccd4c5d"/>
    <p:sldId xmlns:r="http://schemas.openxmlformats.org/officeDocument/2006/relationships" id="258" r:id="R24dcac55f9ae4380"/>
    <p:sldId xmlns:r="http://schemas.openxmlformats.org/officeDocument/2006/relationships" id="259" r:id="Rac71c53c8cdd4537"/>
    <p:sldId xmlns:r="http://schemas.openxmlformats.org/officeDocument/2006/relationships" id="260" r:id="Ra2460b2e60da40a9"/>
    <p:sldId xmlns:r="http://schemas.openxmlformats.org/officeDocument/2006/relationships" id="261" r:id="R087d78f5b0554a26"/>
    <p:sldId xmlns:r="http://schemas.openxmlformats.org/officeDocument/2006/relationships" id="262" r:id="R62110551040f4c83"/>
    <p:sldId xmlns:r="http://schemas.openxmlformats.org/officeDocument/2006/relationships" id="263" r:id="R468083c951e64d0a"/>
    <p:sldId xmlns:r="http://schemas.openxmlformats.org/officeDocument/2006/relationships" id="264" r:id="R1a6e12451af54941"/>
    <p:sldId xmlns:r="http://schemas.openxmlformats.org/officeDocument/2006/relationships" id="265" r:id="R686bd07a164549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b2426f8954449" /><Relationship Type="http://schemas.openxmlformats.org/officeDocument/2006/relationships/slideMaster" Target="/ppt/slideMasters/slideMaster1.xml" Id="R8e06d1d8ebaf4bf3" /><Relationship Type="http://schemas.openxmlformats.org/officeDocument/2006/relationships/notesMaster" Target="/ppt/notesMasters/notesMaster1.xml" Id="R6a867fd16ecf46d0" /><Relationship Type="http://schemas.openxmlformats.org/officeDocument/2006/relationships/presProps" Target="/ppt/presProps.xml" Id="Ra1d6c233a1eb457e" /><Relationship Type="http://schemas.openxmlformats.org/officeDocument/2006/relationships/tableStyles" Target="/ppt/tableStyles.xml" Id="Ra1a3017ff62e4a36" /><Relationship Type="http://schemas.openxmlformats.org/officeDocument/2006/relationships/slide" Target="/ppt/slides/slide1.xml" Id="R133bae1e61964f73" /><Relationship Type="http://schemas.openxmlformats.org/officeDocument/2006/relationships/slide" Target="/ppt/slides/slide2.xml" Id="Re12ffb5b5ccd4c5d" /><Relationship Type="http://schemas.openxmlformats.org/officeDocument/2006/relationships/slide" Target="/ppt/slides/slide3.xml" Id="R24dcac55f9ae4380" /><Relationship Type="http://schemas.openxmlformats.org/officeDocument/2006/relationships/slide" Target="/ppt/slides/slide4.xml" Id="Rac71c53c8cdd4537" /><Relationship Type="http://schemas.openxmlformats.org/officeDocument/2006/relationships/slide" Target="/ppt/slides/slide5.xml" Id="Ra2460b2e60da40a9" /><Relationship Type="http://schemas.openxmlformats.org/officeDocument/2006/relationships/slide" Target="/ppt/slides/slide6.xml" Id="R087d78f5b0554a26" /><Relationship Type="http://schemas.openxmlformats.org/officeDocument/2006/relationships/slide" Target="/ppt/slides/slide7.xml" Id="R62110551040f4c83" /><Relationship Type="http://schemas.openxmlformats.org/officeDocument/2006/relationships/slide" Target="/ppt/slides/slide8.xml" Id="R468083c951e64d0a" /><Relationship Type="http://schemas.openxmlformats.org/officeDocument/2006/relationships/slide" Target="/ppt/slides/slide9.xml" Id="R1a6e12451af54941" /><Relationship Type="http://schemas.openxmlformats.org/officeDocument/2006/relationships/slide" Target="/ppt/slides/slide10.xml" Id="R686bd07a164549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b1d499caa47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7c90542134e9a" /><Relationship Type="http://schemas.openxmlformats.org/officeDocument/2006/relationships/notesMaster" Target="/ppt/notesMasters/notesMaster1.xml" Id="Rbede708b1942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c79e6a1cf4755" /><Relationship Type="http://schemas.openxmlformats.org/officeDocument/2006/relationships/notesMaster" Target="/ppt/notesMasters/notesMaster1.xml" Id="R7d6da58bb2be48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c1e9cc29143a3" /><Relationship Type="http://schemas.openxmlformats.org/officeDocument/2006/relationships/notesMaster" Target="/ppt/notesMasters/notesMaster1.xml" Id="R25ed1c174848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61f95f6814caf" /><Relationship Type="http://schemas.openxmlformats.org/officeDocument/2006/relationships/notesMaster" Target="/ppt/notesMasters/notesMaster1.xml" Id="Rdb7a7526466941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0dbe485e864ee9" /><Relationship Type="http://schemas.openxmlformats.org/officeDocument/2006/relationships/notesMaster" Target="/ppt/notesMasters/notesMaster1.xml" Id="R6b43b0893d7c4f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f8e056cf004703" /><Relationship Type="http://schemas.openxmlformats.org/officeDocument/2006/relationships/notesMaster" Target="/ppt/notesMasters/notesMaster1.xml" Id="R4c040679c11843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dcf0a7f104609" /><Relationship Type="http://schemas.openxmlformats.org/officeDocument/2006/relationships/notesMaster" Target="/ppt/notesMasters/notesMaster1.xml" Id="R509a853febc543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1ea4461f2d4f66" /><Relationship Type="http://schemas.openxmlformats.org/officeDocument/2006/relationships/notesMaster" Target="/ppt/notesMasters/notesMaster1.xml" Id="Reaf3fffcbfdc40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6cf744afd1473e" /><Relationship Type="http://schemas.openxmlformats.org/officeDocument/2006/relationships/notesMaster" Target="/ppt/notesMasters/notesMaster1.xml" Id="Rf9afea93501b4b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b145fc6e78448b" /><Relationship Type="http://schemas.openxmlformats.org/officeDocument/2006/relationships/notesMaster" Target="/ppt/notesMasters/notesMaster1.xml" Id="Rfe19931cc659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Propuesta_Monero_IEEE (1).docx. Contenido preparado para exposición académica.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9d702badd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bf0f4c1414828" /><Relationship Type="http://schemas.openxmlformats.org/officeDocument/2006/relationships/slideLayout" Target="/ppt/slideLayouts/slideLayout1.xml" Id="R2acd33ac5ad64b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d33ac5ad64b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41ac71a17474c" /><Relationship Type="http://schemas.openxmlformats.org/officeDocument/2006/relationships/notesSlide" Target="/ppt/notesSlides/notesSlide1.xml" Id="Rf3bfcb69b87c48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f3cd4245e41f9" /><Relationship Type="http://schemas.openxmlformats.org/officeDocument/2006/relationships/notesSlide" Target="/ppt/notesSlides/notesSlide2.xml" Id="R865fb2744b964d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3ca6740154118" /><Relationship Type="http://schemas.openxmlformats.org/officeDocument/2006/relationships/notesSlide" Target="/ppt/notesSlides/notesSlide3.xml" Id="R7ea254a646b74f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621dfa85943be" /><Relationship Type="http://schemas.openxmlformats.org/officeDocument/2006/relationships/notesSlide" Target="/ppt/notesSlides/notesSlide4.xml" Id="R0944bfe56a6c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66d86e7af4b97" /><Relationship Type="http://schemas.openxmlformats.org/officeDocument/2006/relationships/notesSlide" Target="/ppt/notesSlides/notesSlide5.xml" Id="Rcb3d3f7ae0f7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1a888982f4916" /><Relationship Type="http://schemas.openxmlformats.org/officeDocument/2006/relationships/notesSlide" Target="/ppt/notesSlides/notesSlide6.xml" Id="Rf050e8ae63074a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3e05951ab43c9" /><Relationship Type="http://schemas.openxmlformats.org/officeDocument/2006/relationships/notesSlide" Target="/ppt/notesSlides/notesSlide7.xml" Id="R183f544c08c043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2f0d9d0554a1c" /><Relationship Type="http://schemas.openxmlformats.org/officeDocument/2006/relationships/notesSlide" Target="/ppt/notesSlides/notesSlide8.xml" Id="R639aea20fb5246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320acecd14bd5" /><Relationship Type="http://schemas.openxmlformats.org/officeDocument/2006/relationships/notesSlide" Target="/ppt/notesSlides/notesSlide9.xml" Id="Rd359f5707d1942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a847f4c74db5" /><Relationship Type="http://schemas.openxmlformats.org/officeDocument/2006/relationships/notesSlide" Target="/ppt/notesSlides/notesSlide10.xml" Id="R1046753713bd4f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AC39-8EDE-4676-AAA9-E88D150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F062-F0D7-46FF-BEAD-CF416691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00910-2234-4D2C-A73D-B4AFEA65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Predicción del precio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Monero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C4DBA-F7C5-4906-8376-E2F7238E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Modelos de series de tiempo y aprendizaje automático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88B7F-4F4B-434C-8DED-70D5DE62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1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134"/>
                </a:solidFill>
                <a:latin typeface="Arial"/>
                <a:ea typeface="Arial"/>
                <a:cs typeface="Arial"/>
              </a:rPr>
              <a:t>Propuesta de investigación · Fase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665A-04BE-4094-B309-CEBE968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XMR-Forecast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E7793-746B-4654-8C06-DD6D2FF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0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Estudio académico. No es asesoría financiera.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B1DFC-C48A-4D5E-AA60-4612010E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08638-DA4D-4E5E-9FA9-7941CFE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XMR</a:t>
            </a:r>
          </a:p>
        </p:txBody>
      </p:sp>
    </p:spTree>
    <p:extLst>
      <p:ext uri="{BB962C8B-B14F-4D97-AF65-F5344CB8AC3E}">
        <p14:creationId xmlns:p14="http://schemas.microsoft.com/office/powerpoint/2010/main" val="1233011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6E8B4-BC82-470A-9374-107DC85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50CD3-20BA-4AE2-A192-A82A246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 y pregunta de investigación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4D6F1-5F72-4083-B19C-19EE885B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9ADDD-5081-46EF-9CC8-CAF5769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Monero presenta alta volatilidad y su comportamiento depende de múltiples factores.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D5A4-C68C-4116-807B-FB70104A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4901-051A-41EB-A8AB-A22520B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solidFill>
              <a:srgbClr val="C94C4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1C43A-877F-4298-8C79-A34B95D2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2CB60-3C41-469A-82E9-183B110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Los cambios bruscos dificultan identificar tendencias y predecir el comportamiento futuro a partir de datos históricos.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FDA9B-802B-4850-B5F0-009EB70B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797CB-E819-4E5D-8E81-08C766EA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8AA5D-785C-454E-AE7D-65E51D5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09A5D-4251-4F86-99EC-C9F7F03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¿Un modelo LSTM predice mejor el cierre diario de Monero que la media móvil, ARIMA o la regresión lineal?</a:t>
            </a:r>
          </a:p>
        </p:txBody>
      </p:sp>
    </p:spTree>
    <p:extLst>
      <p:ext uri="{BB962C8B-B14F-4D97-AF65-F5344CB8AC3E}">
        <p14:creationId xmlns:p14="http://schemas.microsoft.com/office/powerpoint/2010/main" val="692090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BD9F8-72AC-4862-B1C6-C3F7B04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3389A-B606-4D4B-B4EA-E818EE77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Objetivo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CCD17-1A0F-4636-91AC-7784FAF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CDB9A-2617-4226-AAC4-04BF790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CAF9E-D53B-4ABB-A665-66B9583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Desarrollar y evaluar un sistema de predicción del precio de Monero usando datos históricos, modelos estadísticos y aprendizaje automático.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B4D6-994B-41A1-B813-722F66C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Alcance de la Fase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C4ADA-00E0-4B83-9831-6566731A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4E76A-B4B6-401E-9AE9-A18C6C5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478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Datos diarios de XMR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C044D-5C0A-4BCB-A396-8C380F7F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EC067-BBBA-4449-984C-75726F99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431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Predicción del cierre del día siguiente o de la dirección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40148-53A1-4E3D-9457-4C10DCF9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14BD5-33DA-45D0-A032-D57403B7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384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Comparación entre modelos base y LSTM/GRU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E6732-628D-4665-BD0A-9AB9026A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D65A7-6BB5-44DD-B9BA-B0700C4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337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Análisis de errores y cambios bruscos</a:t>
            </a:r>
          </a:p>
        </p:txBody>
      </p:sp>
    </p:spTree>
    <p:extLst>
      <p:ext uri="{BB962C8B-B14F-4D97-AF65-F5344CB8AC3E}">
        <p14:creationId xmlns:p14="http://schemas.microsoft.com/office/powerpoint/2010/main" val="1651750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D5CFF-9E07-4B2C-8B07-A2DFD39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27EC1-85D7-4625-9B08-69D6EF6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Datos y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CB17-5963-4CB5-A5DA-B6E2262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F5DD9-38B2-4256-B431-4107530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Cada fila representa un día de negociación de Monero.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FB07B-FC3E-4EF1-AD88-02FEB04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35AC9-8884-4322-9C52-3A8F4CBB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Apertura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F40BC-BEBC-44CE-A2A4-2E2A76A5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Precio del día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4A900-1506-4CA7-928C-E38BF5C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629E7-125F-49F0-9B64-F4EAE7D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Máximo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55368-AC78-4588-A093-F9FD319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Precio del día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30D4B-CFC1-4A34-90EA-9CABD50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4B7BA-F6E9-4E10-8E6A-43F6C699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Mínimo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6A283-198E-4667-B22C-34544648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Precio del día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5EA28-1996-4BFA-BE12-B764A49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AC92B-2831-4510-A484-DC4177A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A3A92-EBF6-413C-A496-70312789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Precio del día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C89E4-7470-4B76-835D-F9DD3BBE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CABE1-5337-4E9E-94A7-0DCBC6C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Volumen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ED915-4552-465A-9E5A-D8E8707A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Cantidad negociada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67E0A-0672-4187-A89B-50816FD3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Variables adicionales posibles: variación diaria, medias móviles, RSI, MACD y datos de otras criptomonedas.</a:t>
            </a:r>
          </a:p>
        </p:txBody>
      </p:sp>
    </p:spTree>
    <p:extLst>
      <p:ext uri="{BB962C8B-B14F-4D97-AF65-F5344CB8AC3E}">
        <p14:creationId xmlns:p14="http://schemas.microsoft.com/office/powerpoint/2010/main" val="404320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56140-BF1F-4642-A665-ABEC4E0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E61A3-9CE3-48C7-A204-DE358B0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Modelos comparados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F511C-12A4-48B4-B37D-57C90592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94169-4B3F-4618-B2BB-E03D1CF0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7B5D6-D588-4641-86FD-4AC1B00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79066-A0F9-48C4-BF1B-08D8D34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47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Media móvil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87D1C-4C42-4E03-A2F6-2FAF4F7B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47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Promedia los últimos días. Sirve como referencia sencilla.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4DFB9-5F29-43D9-A63D-AD5B8A4A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BA525-BF70-4FB2-942B-05DCBBF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9E869-871E-4E06-83D2-72B186AA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Regresión lineal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2676D-66FD-4B4A-997E-149C2199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4320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Busca una relación lineal entre los datos anteriores y el precio futuro.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EAC05-C94E-4F5B-A39B-CB69AED2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082C3-26A4-4214-9A1C-E0B0B15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6D1"/>
          </a:solidFill>
          <a:ln xmlns:a="http://schemas.openxmlformats.org/drawingml/2006/main" w="0">
            <a:solidFill>
              <a:srgbClr val="26A6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0409B-8C77-4C9B-8D96-219F9907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38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ARIMA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C4036-2F4F-4090-B429-08252073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3857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Modelo estadístico diseñado para pronosticar series temporales.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8A898-5541-4273-B2EC-10F8091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1B97B-CD51-4EF4-86CC-7CA9141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74B7C-B8F4-41A8-AF3E-0E68BCF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LSTM / GRU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138B0-C530-4559-9BFF-E7FC76B8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3395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Redes recurrentes que aprenden patrones secuenciales.</a:t>
            </a:r>
          </a:p>
        </p:txBody>
      </p:sp>
    </p:spTree>
    <p:extLst>
      <p:ext uri="{BB962C8B-B14F-4D97-AF65-F5344CB8AC3E}">
        <p14:creationId xmlns:p14="http://schemas.microsoft.com/office/powerpoint/2010/main" val="1064294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777C8-A3A9-42AD-A25E-A3DCB47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7FEC1-ED90-446A-9257-9AF7EC3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Conceptos clave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52102-2731-4B60-A6F1-4973FACE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412B-8EA6-4777-A3A8-C799792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7874B-24C2-4DB6-B1BC-C9569C9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Serie de tiempo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0BCC0-5752-4DF8-B42C-5654FD1B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Datos ordenados por fecha.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072D2-75F4-4AB5-844D-B1D61CE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F475-CC72-44EE-BFF4-717111A7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3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Ventana 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5746C-A29B-4C93-8844-DA01B143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Días anteriores que observa el modelo.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3AFC8-5FBE-4686-8221-90FB2FC5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47A8A-2EC9-4FF2-BCE8-D817EAA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Normalización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8B2FA-28D7-44DF-AFA6-959A035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Transforma los valores a una escala manejable.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B7027-CA1C-4F97-A21A-E4A0173C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89308-913F-4C05-A7B1-CA0AEDF2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Fuga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AC546-F9C5-4C1D-9E91-86E09EC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Usar información del futuro durante el entrenamiento.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0343A-F490-4616-87BC-9E88C72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A716D-BB09-46A2-9721-3AEC23AD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Sobreajuste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EA0D5-EE28-4F44-822F-E8F85CCF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Memorizar el entrenamiento y fallar con datos nuevos.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8E946-0714-40C5-81C7-2949AC4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F8CAA-3E1E-4113-8737-8BE73BE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Parada temprana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35735-8BEC-41A0-8162-F5EB0F7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Detener el entrenamiento cuando deja de mejorar.</a:t>
            </a:r>
          </a:p>
        </p:txBody>
      </p:sp>
    </p:spTree>
    <p:extLst>
      <p:ext uri="{BB962C8B-B14F-4D97-AF65-F5344CB8AC3E}">
        <p14:creationId xmlns:p14="http://schemas.microsoft.com/office/powerpoint/2010/main" val="708594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C3939-702A-427D-AEC5-1F4EBDD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EFAA7-7D97-4558-86B1-07F39769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Metodología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F8C9E-1672-4935-86CA-C28D1721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D67B4-0249-47D0-8E2E-045984F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43AE4-2ACA-4FDA-A535-B92BAD66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FC017-1C19-4FDB-A75F-9766C2E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95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55D56-9989-45E8-B51C-288DDC47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288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Recolectar datos históricos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1E3C-DC3B-4A5C-AAAF-142FE34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59FDB-F509-48D3-845E-F2690F59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868E-94BE-4285-9B3F-C33315D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46C85-053F-4C5B-A3BF-ADD86A8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288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Limpiar y ordenar por fecha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CF9D7-4805-4DB8-9A79-B950410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2ED42-2F6F-4106-B56E-AE22920B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045D2-3A8F-46C7-AF2E-41F9944B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DDAF4-8C04-422D-83A6-A3F308F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Separar entrenamiento, validación y prueba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609F2-CDED-4BBA-BD88-E7AD584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65918-AA1A-439E-818E-700186C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A758E-6F09-41EF-8AD5-73E49EEE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AE380-84EC-441B-8115-F48B797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Crear ventanas temporales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5A6CF-C935-42B4-ACE3-B218BE4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6FF3D-63A7-49A2-B7AE-0793AF19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B6CFC-9A58-432C-BCC6-054CFDB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05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E13FF-2EF0-4279-B664-AD6A444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Entrenar modelos base y LSTM/GRU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8924-71E1-494E-9988-4912923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A4F8C-A4FC-47D6-8277-840D639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87A41-F350-4DEC-9981-49F1380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5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DE2C4-F52A-4705-A17C-F6626DE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Evaluar y analizar errores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AFD9D-6ED0-4F64-A2BB-C7271CE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La división respeta el orden temporal para evitar que el modelo vea información del futuro.</a:t>
            </a:r>
          </a:p>
        </p:txBody>
      </p:sp>
    </p:spTree>
    <p:extLst>
      <p:ext uri="{BB962C8B-B14F-4D97-AF65-F5344CB8AC3E}">
        <p14:creationId xmlns:p14="http://schemas.microsoft.com/office/powerpoint/2010/main" val="1793647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04AE2-390A-4A7E-8470-0E3A5C1C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61953-D3C8-4DA7-A16B-FE412C2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9F741-9CD3-4A94-83CE-89D5F5B7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AA776-487F-454F-8E46-C439C0A7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Precio numérico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0603C-7283-43CB-9799-9B2335EE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6EE0D-8F1A-400E-9037-B3AF5A6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9462F-29FD-4E36-A66D-F1D7D5A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Error absoluto promedio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C6AAE-1A96-491F-A6CB-441BF34C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095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AC811-7199-4F35-9178-8A489E8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B2E17-3D9C-41AA-9C57-5F534244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Penaliza más los errores grandes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6730B-AE2B-4B77-938A-02A6E24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1692D-6421-4B3F-B230-4F569BF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5F9C9-59DA-4384-A969-34A75C9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57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Error expresado como porcentaje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313A8-D9EA-444A-87BD-546EAEC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Dirección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F81BC-5894-4DA7-9363-72CE1BD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70EA6-0209-4ACB-B83F-416AEC8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Proporción de aciertos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B6F9B-F4EF-4229-B1D8-04AA8A29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Porcentaje de días en los que el modelo acierta si el precio sube o baja.</a:t>
            </a:r>
          </a:p>
        </p:txBody>
      </p:sp>
    </p:spTree>
    <p:extLst>
      <p:ext uri="{BB962C8B-B14F-4D97-AF65-F5344CB8AC3E}">
        <p14:creationId xmlns:p14="http://schemas.microsoft.com/office/powerpoint/2010/main" val="288531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141FC-81BD-44A6-ABF5-338DC34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688F-0C74-4332-A68C-B835BBB3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Resultados que buscamos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B2079-3895-4A3E-A9EB-04404B5D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7F3E1-A98A-4D67-BFC6-018A678E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comparación permitirá responder con evidencia si la complejidad de una red neuronal mejora realmente el pronóstico.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8E874-FE17-498B-A0DC-6FD09CF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0CDC-F919-432C-B109-0FA8950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Todos los modelos usarán las mismas fechas de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79D4B-3CC2-4CFB-94B6-44832A8F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9DBDF-8BDF-4E98-A673-72A92219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Analizaremos errores durante cambios bruscos del mercado.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965E1-010C-4CC4-BD96-FE4EB28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37E35-4C53-467F-885A-4BEE590E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Un resultado negativo también es válido.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9A667-1EE4-479C-8BBE-ED8594A6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FC379-C09E-4DAA-9D69-73FA2DE9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confundiremos una métrica de error con rentabilidad real.</a:t>
            </a:r>
          </a:p>
        </p:txBody>
      </p:sp>
    </p:spTree>
    <p:extLst>
      <p:ext uri="{BB962C8B-B14F-4D97-AF65-F5344CB8AC3E}">
        <p14:creationId xmlns:p14="http://schemas.microsoft.com/office/powerpoint/2010/main" val="1326782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26247-9A62-4F80-AA4C-021FEA6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0C4F1-296B-459F-A49F-FC3D025D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Limitaciones y 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5527F-36B8-49F3-A058-0FE360D6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63E57-A381-4BAD-912D-7B720A1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9CC6F-D9CD-42A9-A828-E4D93024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Limitaciones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638D2-FA51-4B92-974D-5B494F0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4DD66-61F6-41DA-AEE7-329728BF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812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Los datos históricos no explican todo el mercado.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184F8-738E-4BAB-94C9-B8306099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76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78486-6249-4E13-B031-D6A92FF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765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Los modelos pueden fallar ante eventos inesperados.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9BBF2-973A-4885-9180-5540B2D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E49B4-719A-45D6-861D-07D66CC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Las métricas no equivalen a ganancias.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E8983-B34F-4293-82EA-4D46E91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67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B2D8A-C6BE-46B6-9919-DE78812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671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se harán simulaciones de inversión.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A52DD-7DDF-4120-B629-141DCAE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A1A7C-46F8-4C62-89BB-A708AA6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EF674-A1D5-41DE-8CC6-0DD71764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proyecto compara LSTM/GRU contra modelos estadísticos para medir la capacidad predictiva de Monero de forma objetiva, reproducible y académica.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4E893-EAAB-489A-A927-3D899201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B1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134"/>
                </a:solidFill>
                <a:latin typeface="Arial"/>
                <a:ea typeface="Arial"/>
                <a:cs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25381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2026-09-30T04:22:18.5630000Z</dcterms:created>
  <dcterms:modified xsi:type="dcterms:W3CDTF">2026-09-30T04:22:18.5630000Z</dcterms:modified>
</coreProperties>
</file>